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Agdasima"/>
      <p:regular r:id="rId15"/>
      <p:bold r:id="rId16"/>
    </p:embeddedFont>
    <p:embeddedFont>
      <p:font typeface="Plus Jakarta Sans"/>
      <p:regular r:id="rId17"/>
      <p:bold r:id="rId18"/>
      <p:italic r:id="rId19"/>
      <p:boldItalic r:id="rId20"/>
    </p:embeddedFont>
    <p:embeddedFont>
      <p:font typeface="Plus Jakarta Sans SemiBold"/>
      <p:regular r:id="rId21"/>
      <p:bold r:id="rId22"/>
      <p:italic r:id="rId23"/>
      <p:boldItalic r:id="rId24"/>
    </p:embeddedFont>
    <p:embeddedFont>
      <p:font typeface="Proxima Nova Semibold"/>
      <p:regular r:id="rId25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22" Type="http://schemas.openxmlformats.org/officeDocument/2006/relationships/font" Target="fonts/PlusJakartaSansSemiBold-bold.fntdata"/><Relationship Id="rId21" Type="http://schemas.openxmlformats.org/officeDocument/2006/relationships/font" Target="fonts/PlusJakartaSansSemiBold-regular.fntdata"/><Relationship Id="rId24" Type="http://schemas.openxmlformats.org/officeDocument/2006/relationships/font" Target="fonts/PlusJakartaSansSemiBold-boldItalic.fntdata"/><Relationship Id="rId23" Type="http://schemas.openxmlformats.org/officeDocument/2006/relationships/font" Target="fonts/PlusJakartaSa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Semibold-bold.fntdata"/><Relationship Id="rId25" Type="http://schemas.openxmlformats.org/officeDocument/2006/relationships/font" Target="fonts/ProximaNovaSemibold-regular.fntdata"/><Relationship Id="rId27" Type="http://schemas.openxmlformats.org/officeDocument/2006/relationships/font" Target="fonts/ProximaNova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5" Type="http://schemas.openxmlformats.org/officeDocument/2006/relationships/font" Target="fonts/Agdasim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PlusJakartaSans-regular.fntdata"/><Relationship Id="rId16" Type="http://schemas.openxmlformats.org/officeDocument/2006/relationships/font" Target="fonts/Agdasima-bold.fntdata"/><Relationship Id="rId19" Type="http://schemas.openxmlformats.org/officeDocument/2006/relationships/font" Target="fonts/PlusJakartaSans-italic.fntdata"/><Relationship Id="rId18" Type="http://schemas.openxmlformats.org/officeDocument/2006/relationships/font" Target="fonts/PlusJakarta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0c003b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0c003b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0c003b13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0c003b13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Loss Usage:</a:t>
            </a:r>
            <a:r>
              <a:rPr lang="en-GB">
                <a:solidFill>
                  <a:schemeClr val="dk1"/>
                </a:solidFill>
              </a:rPr>
              <a:t> It computes the gradient of the loss once, takes the </a:t>
            </a:r>
            <a:r>
              <a:rPr b="1" lang="en-GB">
                <a:solidFill>
                  <a:schemeClr val="dk1"/>
                </a:solidFill>
              </a:rPr>
              <a:t>sign</a:t>
            </a:r>
            <a:r>
              <a:rPr lang="en-GB">
                <a:solidFill>
                  <a:schemeClr val="dk1"/>
                </a:solidFill>
              </a:rPr>
              <a:t> of that gradient ($+1$ or $-1$), and multiplies it by the step size $\epsilon$.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IFGSM: It recalculates the loss and gradient at </a:t>
            </a:r>
            <a:r>
              <a:rPr b="1" lang="en-GB">
                <a:solidFill>
                  <a:schemeClr val="dk1"/>
                </a:solidFill>
              </a:rPr>
              <a:t>every step</a:t>
            </a:r>
            <a:r>
              <a:rPr lang="en-GB">
                <a:solidFill>
                  <a:schemeClr val="dk1"/>
                </a:solidFill>
              </a:rPr>
              <a:t>, allowing the attack to adjust its direction as the image moves further from the ground truth.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MI-FGSM: It averages the current loss gradient with a fraction of the </a:t>
            </a:r>
            <a:r>
              <a:rPr b="1" lang="en-GB">
                <a:solidFill>
                  <a:schemeClr val="dk1"/>
                </a:solidFill>
              </a:rPr>
              <a:t>previous gradients</a:t>
            </a:r>
            <a:r>
              <a:rPr lang="en-GB">
                <a:solidFill>
                  <a:schemeClr val="dk1"/>
                </a:solidFill>
              </a:rPr>
              <a:t>, ensuring the new image is pushed in a consistently effective direction.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a0c003b13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a0c003b13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a0c003b13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a0c003b13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59200" y="1705525"/>
            <a:ext cx="8273100" cy="9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2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Attack MNIST Recognition</a:t>
            </a:r>
            <a:endParaRPr b="1" sz="4200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Chaitanya Mehta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96969"/>
            </a:gs>
            <a:gs pos="100000">
              <a:srgbClr val="1D1D1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What Are Adversarial Attacks?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Adversarial attacks are carefully crafted small perturbations added to input images that are almost invisible to humans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GB">
                <a:solidFill>
                  <a:schemeClr val="lt1"/>
                </a:solidFill>
              </a:rPr>
              <a:t>These tiny changes can cause a model to make completely wrong predictions with high confidence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>
                <a:solidFill>
                  <a:schemeClr val="lt1"/>
                </a:solidFill>
              </a:rPr>
              <a:t>The key idea: maximize model error while keeping the image visually unchanged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>
                <a:solidFill>
                  <a:schemeClr val="lt1"/>
                </a:solidFill>
              </a:rPr>
              <a:t>This exposes a major weakness in deep learning systems used in real-world applications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96969"/>
            </a:gs>
            <a:gs pos="100000">
              <a:srgbClr val="1D1D1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311475" y="1272732"/>
            <a:ext cx="8520311" cy="3676181"/>
            <a:chOff x="1428436" y="567853"/>
            <a:chExt cx="6287124" cy="4007610"/>
          </a:xfrm>
        </p:grpSpPr>
        <p:sp>
          <p:nvSpPr>
            <p:cNvPr id="67" name="Google Shape;67;p15"/>
            <p:cNvSpPr/>
            <p:nvPr/>
          </p:nvSpPr>
          <p:spPr>
            <a:xfrm>
              <a:off x="1428436" y="568063"/>
              <a:ext cx="1970400" cy="40074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428436" y="1020237"/>
              <a:ext cx="1970400" cy="3555000"/>
            </a:xfrm>
            <a:prstGeom prst="roundRect">
              <a:avLst>
                <a:gd fmla="val 16667" name="adj"/>
              </a:avLst>
            </a:pr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1682254" y="567853"/>
              <a:ext cx="1545300" cy="5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FEFE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FGSM - The Giant Leap</a:t>
              </a:r>
              <a:endParaRPr>
                <a:solidFill>
                  <a:srgbClr val="EFEFE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1493684" y="1373090"/>
              <a:ext cx="1839900" cy="24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FGSM is a single-step white-box attack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</a:t>
              </a: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xtremely fast and computationally cheap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Computes the gradient of the loss function only once, then updates all pixels simultaneously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update rule pushes each pixel in the direction that maximally increases the model’s error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 effect: often appears as grainy or static-like noise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Limitation: less precise and sometimes more noticeable noise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586816" y="568050"/>
              <a:ext cx="1970400" cy="2958300"/>
            </a:xfrm>
            <a:prstGeom prst="roundRect">
              <a:avLst>
                <a:gd fmla="val 16667" name="adj"/>
              </a:avLst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586807" y="1089321"/>
              <a:ext cx="1970400" cy="3486000"/>
            </a:xfrm>
            <a:prstGeom prst="roundRect">
              <a:avLst>
                <a:gd fmla="val 16667" name="adj"/>
              </a:avLst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3632594" y="1198991"/>
              <a:ext cx="1924500" cy="14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Iterative FGSM improves FGSM by breaking attack into many small steps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Instead of one big jump, it applies small perturbations repeatedly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Includes a clipping mechanism to ensure the image stays close to the original input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Visual effect: subtle and targeted changes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Main advantage: higher success rate and less visible perturbations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Proxima Nova Semibold"/>
                <a:buChar char="●"/>
              </a:pPr>
              <a:r>
                <a:rPr lang="en-GB" sz="1100">
                  <a:solidFill>
                    <a:schemeClr val="lt2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Limitation: slower than FGSM due to multiple computations</a:t>
              </a:r>
              <a:endParaRPr sz="11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3799350" y="596631"/>
              <a:ext cx="1545300" cy="5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EFEFE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I-FGSM - Careful Climb</a:t>
              </a:r>
              <a:endParaRPr>
                <a:solidFill>
                  <a:srgbClr val="EFEFE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745160" y="568036"/>
              <a:ext cx="1970400" cy="40074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745160" y="1198995"/>
              <a:ext cx="1970400" cy="3376200"/>
            </a:xfrm>
            <a:prstGeom prst="roundRect">
              <a:avLst>
                <a:gd fmla="val 16667" name="adj"/>
              </a:avLst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5957712" y="652422"/>
              <a:ext cx="15453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EFEFEF"/>
                  </a:solidFill>
                  <a:latin typeface="Plus Jakarta Sans SemiBold"/>
                  <a:ea typeface="Plus Jakarta Sans SemiBold"/>
                  <a:cs typeface="Plus Jakarta Sans SemiBold"/>
                  <a:sym typeface="Plus Jakarta Sans SemiBold"/>
                </a:rPr>
                <a:t>MI-FGSM</a:t>
              </a:r>
              <a:endParaRPr sz="1600">
                <a:solidFill>
                  <a:srgbClr val="EFEFE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5810446" y="1373089"/>
              <a:ext cx="1839900" cy="23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Momentum Iterative FGSM enhances I-FGSM by adding a momentum term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Instead of relying only on the current gradient, it accumulates past gradients to build direction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Helps the attack avoid local maxima or unstable gradient directions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Produces smoother perturbations that are less noisy and more structured</a:t>
              </a:r>
              <a:endParaRPr sz="11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indent="-105850" lvl="0" marL="720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Proxima Nova"/>
                <a:buChar char="●"/>
              </a:pPr>
              <a:r>
                <a:rPr lang="en-GB" sz="110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Visual effect: cleaner and more natural-looking adversarial noise</a:t>
              </a:r>
              <a:endParaRPr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96969"/>
            </a:gs>
            <a:gs pos="100000">
              <a:srgbClr val="1D1D1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311700" y="2951925"/>
            <a:ext cx="4161000" cy="1614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Attack on CNN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478975" y="1239250"/>
            <a:ext cx="1265700" cy="1614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Understands image structure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11700" y="1239250"/>
            <a:ext cx="1085700" cy="1614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Detects patterns like edges and shapes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700" y="3075675"/>
            <a:ext cx="1934400" cy="1363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6"/>
          <p:cNvGrpSpPr/>
          <p:nvPr/>
        </p:nvGrpSpPr>
        <p:grpSpPr>
          <a:xfrm>
            <a:off x="2826238" y="1239253"/>
            <a:ext cx="1646432" cy="1614904"/>
            <a:chOff x="3904753" y="1532089"/>
            <a:chExt cx="2097900" cy="2085900"/>
          </a:xfrm>
        </p:grpSpPr>
        <p:sp>
          <p:nvSpPr>
            <p:cNvPr id="89" name="Google Shape;89;p16"/>
            <p:cNvSpPr/>
            <p:nvPr/>
          </p:nvSpPr>
          <p:spPr>
            <a:xfrm>
              <a:off x="3904753" y="1532089"/>
              <a:ext cx="2097900" cy="2085900"/>
            </a:xfrm>
            <a:prstGeom prst="roundRect">
              <a:avLst>
                <a:gd fmla="val 8735" name="adj"/>
              </a:avLst>
            </a:prstGeom>
            <a:solidFill>
              <a:srgbClr val="010101"/>
            </a:solidFill>
            <a:ln>
              <a:noFill/>
            </a:ln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4065490" y="1701988"/>
              <a:ext cx="1746300" cy="1746300"/>
            </a:xfrm>
            <a:prstGeom prst="ellipse">
              <a:avLst/>
            </a:prstGeom>
            <a:noFill/>
            <a:ln cap="flat" cmpd="sng" w="2281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4065495" y="1701981"/>
              <a:ext cx="1746300" cy="1746300"/>
            </a:xfrm>
            <a:prstGeom prst="arc">
              <a:avLst>
                <a:gd fmla="val 17798338" name="adj1"/>
                <a:gd fmla="val 16181328" name="adj2"/>
              </a:avLst>
            </a:prstGeom>
            <a:noFill/>
            <a:ln cap="flat" cmpd="sng" w="114100">
              <a:solidFill>
                <a:srgbClr val="AF85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669" rotWithShape="0" algn="bl">
                <a:srgbClr val="4F0BD7"/>
              </a:outerShdw>
            </a:effectLst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4265188" y="2159488"/>
              <a:ext cx="1350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23"/>
                <a:buNone/>
              </a:pPr>
              <a:r>
                <a:rPr lang="en-GB" sz="2500">
                  <a:solidFill>
                    <a:srgbClr val="FFFFFF"/>
                  </a:solidFill>
                  <a:latin typeface="Agdasima"/>
                  <a:ea typeface="Agdasima"/>
                  <a:cs typeface="Agdasima"/>
                  <a:sym typeface="Agdasima"/>
                </a:rPr>
                <a:t>Test: </a:t>
              </a:r>
              <a:r>
                <a:rPr lang="en-GB" sz="2500">
                  <a:solidFill>
                    <a:srgbClr val="FFFFFF"/>
                  </a:solidFill>
                  <a:latin typeface="Agdasima"/>
                  <a:ea typeface="Agdasima"/>
                  <a:cs typeface="Agdasima"/>
                  <a:sym typeface="Agdasima"/>
                </a:rPr>
                <a:t>98.6%</a:t>
              </a:r>
              <a:endParaRPr sz="2500">
                <a:solidFill>
                  <a:srgbClr val="FFFFFF"/>
                </a:solidFill>
                <a:latin typeface="Agdasima"/>
                <a:ea typeface="Agdasima"/>
                <a:cs typeface="Agdasima"/>
                <a:sym typeface="Agdasima"/>
              </a:endParaRPr>
            </a:p>
          </p:txBody>
        </p:sp>
      </p:grpSp>
      <p:sp>
        <p:nvSpPr>
          <p:cNvPr id="93" name="Google Shape;93;p16"/>
          <p:cNvSpPr/>
          <p:nvPr/>
        </p:nvSpPr>
        <p:spPr>
          <a:xfrm>
            <a:off x="4572000" y="1239300"/>
            <a:ext cx="4395600" cy="3434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975" y="1487150"/>
            <a:ext cx="3961401" cy="29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96969"/>
            </a:gs>
            <a:gs pos="100000">
              <a:srgbClr val="1D1D1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311700" y="2951925"/>
            <a:ext cx="4161000" cy="1614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Attack on MLP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478975" y="1239250"/>
            <a:ext cx="1265700" cy="1614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No spatial awareness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11700" y="1239250"/>
            <a:ext cx="1085700" cy="1614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136875" lIns="136875" spcFirstLastPara="1" rIns="136875" wrap="square" tIns="136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Sees image as just numbers 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7"/>
          <p:cNvGrpSpPr/>
          <p:nvPr/>
        </p:nvGrpSpPr>
        <p:grpSpPr>
          <a:xfrm>
            <a:off x="2826238" y="1239253"/>
            <a:ext cx="1646432" cy="1614904"/>
            <a:chOff x="3904753" y="1532089"/>
            <a:chExt cx="2097900" cy="2085900"/>
          </a:xfrm>
        </p:grpSpPr>
        <p:sp>
          <p:nvSpPr>
            <p:cNvPr id="104" name="Google Shape;104;p17"/>
            <p:cNvSpPr/>
            <p:nvPr/>
          </p:nvSpPr>
          <p:spPr>
            <a:xfrm>
              <a:off x="3904753" y="1532089"/>
              <a:ext cx="2097900" cy="2085900"/>
            </a:xfrm>
            <a:prstGeom prst="roundRect">
              <a:avLst>
                <a:gd fmla="val 8735" name="adj"/>
              </a:avLst>
            </a:prstGeom>
            <a:solidFill>
              <a:srgbClr val="010101"/>
            </a:solidFill>
            <a:ln>
              <a:noFill/>
            </a:ln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4065490" y="1701988"/>
              <a:ext cx="1746300" cy="1746300"/>
            </a:xfrm>
            <a:prstGeom prst="ellipse">
              <a:avLst/>
            </a:prstGeom>
            <a:noFill/>
            <a:ln cap="flat" cmpd="sng" w="2281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4065495" y="1701981"/>
              <a:ext cx="1746300" cy="1746300"/>
            </a:xfrm>
            <a:prstGeom prst="arc">
              <a:avLst>
                <a:gd fmla="val 17798338" name="adj1"/>
                <a:gd fmla="val 16181328" name="adj2"/>
              </a:avLst>
            </a:prstGeom>
            <a:noFill/>
            <a:ln cap="flat" cmpd="sng" w="114100">
              <a:solidFill>
                <a:srgbClr val="AF85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669" rotWithShape="0" algn="bl">
                <a:srgbClr val="4F0BD7"/>
              </a:outerShdw>
            </a:effectLst>
          </p:spPr>
          <p:txBody>
            <a:bodyPr anchorCtr="0" anchor="ctr" bIns="136875" lIns="136875" spcFirstLastPara="1" rIns="136875" wrap="square" tIns="136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95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4265188" y="2159488"/>
              <a:ext cx="13503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23"/>
                <a:buNone/>
              </a:pPr>
              <a:r>
                <a:rPr lang="en-GB" sz="2500">
                  <a:solidFill>
                    <a:srgbClr val="FFFFFF"/>
                  </a:solidFill>
                  <a:latin typeface="Agdasima"/>
                  <a:ea typeface="Agdasima"/>
                  <a:cs typeface="Agdasima"/>
                  <a:sym typeface="Agdasima"/>
                </a:rPr>
                <a:t>Test: </a:t>
              </a:r>
              <a:r>
                <a:rPr lang="en-GB" sz="2500">
                  <a:solidFill>
                    <a:srgbClr val="FFFFFF"/>
                  </a:solidFill>
                  <a:latin typeface="Agdasima"/>
                  <a:ea typeface="Agdasima"/>
                  <a:cs typeface="Agdasima"/>
                  <a:sym typeface="Agdasima"/>
                </a:rPr>
                <a:t>91.5%</a:t>
              </a:r>
              <a:endParaRPr sz="2500">
                <a:solidFill>
                  <a:srgbClr val="FFFFFF"/>
                </a:solidFill>
                <a:latin typeface="Agdasima"/>
                <a:ea typeface="Agdasima"/>
                <a:cs typeface="Agdasima"/>
                <a:sym typeface="Agdasima"/>
              </a:endParaRPr>
            </a:p>
          </p:txBody>
        </p:sp>
      </p:grpSp>
      <p:sp>
        <p:nvSpPr>
          <p:cNvPr id="108" name="Google Shape;108;p17"/>
          <p:cNvSpPr/>
          <p:nvPr/>
        </p:nvSpPr>
        <p:spPr>
          <a:xfrm>
            <a:off x="4572000" y="1239300"/>
            <a:ext cx="4395600" cy="3434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75" y="3197925"/>
            <a:ext cx="2605300" cy="12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6250" y="1498325"/>
            <a:ext cx="4043000" cy="29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